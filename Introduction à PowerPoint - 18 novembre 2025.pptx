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4"/>
  </p:sldMasterIdLst>
  <p:sldIdLst>
    <p:sldId id="256" r:id="rId5"/>
    <p:sldId id="269" r:id="rId6"/>
    <p:sldId id="257" r:id="rId7"/>
    <p:sldId id="258" r:id="rId8"/>
    <p:sldId id="259" r:id="rId9"/>
    <p:sldId id="260" r:id="rId10"/>
    <p:sldId id="261" r:id="rId11"/>
    <p:sldId id="262" r:id="rId12"/>
    <p:sldId id="263" r:id="rId13"/>
    <p:sldId id="265" r:id="rId14"/>
    <p:sldId id="267" r:id="rId15"/>
    <p:sldId id="268"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94660"/>
  </p:normalViewPr>
  <p:slideViewPr>
    <p:cSldViewPr snapToGrid="0">
      <p:cViewPr varScale="1">
        <p:scale>
          <a:sx n="74" d="100"/>
          <a:sy n="74" d="100"/>
        </p:scale>
        <p:origin x="90" y="22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fr-FR"/>
              <a:t>Modifiez le style du titre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E8346314-841A-475F-AE66-A4B1666C231D}" type="datetimeFigureOut">
              <a:rPr lang="fr-FR" smtClean="0"/>
              <a:t>17/11/2025</a:t>
            </a:fld>
            <a:endParaRPr lang="fr-FR"/>
          </a:p>
        </p:txBody>
      </p:sp>
      <p:sp>
        <p:nvSpPr>
          <p:cNvPr id="9" name="Footer Placeholder 8"/>
          <p:cNvSpPr>
            <a:spLocks noGrp="1"/>
          </p:cNvSpPr>
          <p:nvPr>
            <p:ph type="ftr" sz="quarter" idx="11"/>
          </p:nvPr>
        </p:nvSpPr>
        <p:spPr/>
        <p:txBody>
          <a:bodyPr/>
          <a:lstStyle/>
          <a:p>
            <a:endParaRPr lang="fr-FR"/>
          </a:p>
        </p:txBody>
      </p:sp>
      <p:sp>
        <p:nvSpPr>
          <p:cNvPr id="10" name="Slide Number Placeholder 9"/>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21953023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17/11/2025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42818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fr-FR"/>
              <a:t>Modifiez le style du titre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8346314-841A-475F-AE66-A4B1666C231D}" type="datetimeFigureOut">
              <a:rPr lang="fr-FR" smtClean="0"/>
              <a:t>17/11/2025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90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8346314-841A-475F-AE66-A4B1666C231D}" type="datetimeFigureOut">
              <a:rPr lang="fr-FR" smtClean="0"/>
              <a:t>17/11/2025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7062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fr-FR"/>
              <a:t>Cliquez pour modifier les styles du texte du masque</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8346314-841A-475F-AE66-A4B1666C231D}" type="datetimeFigureOut">
              <a:rPr lang="fr-FR" smtClean="0"/>
              <a:t>17/11/2025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DF5200A-8DB3-41D9-AFC9-9FDDA6BDB3B4}" type="slidenum">
              <a:rPr lang="fr-FR" smtClean="0"/>
              <a:t>‹N°›</a:t>
            </a:fld>
            <a:endParaRPr lang="fr-FR"/>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60737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8346314-841A-475F-AE66-A4B1666C231D}" type="datetimeFigureOut">
              <a:rPr lang="fr-FR" smtClean="0"/>
              <a:t>17/11/2025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24659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346314-841A-475F-AE66-A4B1666C231D}" type="datetimeFigureOut">
              <a:rPr lang="fr-FR" smtClean="0"/>
              <a:t>17/11/2025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DF5200A-8DB3-41D9-AFC9-9FDDA6BDB3B4}" type="slidenum">
              <a:rPr lang="fr-FR" smtClean="0"/>
              <a:t>‹N°›</a:t>
            </a:fld>
            <a:endParaRPr lang="fr-FR"/>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56232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fr-FR"/>
              <a:t>Modifiez le style du titre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8346314-841A-475F-AE66-A4B1666C231D}" type="datetimeFigureOut">
              <a:rPr lang="fr-FR" smtClean="0"/>
              <a:t>17/11/2025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15797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8346314-841A-475F-AE66-A4B1666C231D}" type="datetimeFigureOut">
              <a:rPr lang="fr-FR" smtClean="0"/>
              <a:t>17/11/2025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3345262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17/11/2025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9529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17/11/2025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82278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E8346314-841A-475F-AE66-A4B1666C231D}" type="datetimeFigureOut">
              <a:rPr lang="fr-FR" smtClean="0"/>
              <a:t>17/11/2025</a:t>
            </a:fld>
            <a:endParaRPr lang="fr-F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fr-F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0DF5200A-8DB3-41D9-AFC9-9FDDA6BDB3B4}" type="slidenum">
              <a:rPr lang="fr-FR" smtClean="0"/>
              <a:t>‹N°›</a:t>
            </a:fld>
            <a:endParaRPr lang="fr-FR"/>
          </a:p>
        </p:txBody>
      </p:sp>
    </p:spTree>
    <p:extLst>
      <p:ext uri="{BB962C8B-B14F-4D97-AF65-F5344CB8AC3E}">
        <p14:creationId xmlns:p14="http://schemas.microsoft.com/office/powerpoint/2010/main" val="2990993033"/>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iutsd.univ-paris13.fr/" TargetMode="Externa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B0458D-655F-668A-5233-6EB04079CEE0}"/>
              </a:ext>
            </a:extLst>
          </p:cNvPr>
          <p:cNvSpPr>
            <a:spLocks noGrp="1"/>
          </p:cNvSpPr>
          <p:nvPr>
            <p:ph type="ctrTitle"/>
          </p:nvPr>
        </p:nvSpPr>
        <p:spPr/>
        <p:txBody>
          <a:bodyPr/>
          <a:lstStyle/>
          <a:p>
            <a:r>
              <a:rPr lang="fr-FR" dirty="0"/>
              <a:t>Introduction à PowerPoint</a:t>
            </a:r>
          </a:p>
        </p:txBody>
      </p:sp>
      <p:sp>
        <p:nvSpPr>
          <p:cNvPr id="3" name="Sous-titre 2">
            <a:extLst>
              <a:ext uri="{FF2B5EF4-FFF2-40B4-BE49-F238E27FC236}">
                <a16:creationId xmlns:a16="http://schemas.microsoft.com/office/drawing/2014/main" id="{E1A19970-0DDE-10BB-F05B-B2FAF144E40D}"/>
              </a:ext>
            </a:extLst>
          </p:cNvPr>
          <p:cNvSpPr>
            <a:spLocks noGrp="1"/>
          </p:cNvSpPr>
          <p:nvPr>
            <p:ph type="subTitle" idx="1"/>
          </p:nvPr>
        </p:nvSpPr>
        <p:spPr/>
        <p:txBody>
          <a:bodyPr/>
          <a:lstStyle/>
          <a:p>
            <a:r>
              <a:rPr lang="fr-FR" b="1" dirty="0"/>
              <a:t>BUT GEA Informatique</a:t>
            </a:r>
          </a:p>
          <a:p>
            <a:r>
              <a:rPr lang="fr-FR" i="1" dirty="0"/>
              <a:t>Outils numériques de communication</a:t>
            </a:r>
          </a:p>
        </p:txBody>
      </p:sp>
    </p:spTree>
    <p:extLst>
      <p:ext uri="{BB962C8B-B14F-4D97-AF65-F5344CB8AC3E}">
        <p14:creationId xmlns:p14="http://schemas.microsoft.com/office/powerpoint/2010/main" val="372767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0114D-53DE-186A-A23B-53542CED0594}"/>
              </a:ext>
            </a:extLst>
          </p:cNvPr>
          <p:cNvSpPr>
            <a:spLocks noGrp="1"/>
          </p:cNvSpPr>
          <p:nvPr>
            <p:ph type="title"/>
          </p:nvPr>
        </p:nvSpPr>
        <p:spPr/>
        <p:txBody>
          <a:bodyPr/>
          <a:lstStyle/>
          <a:p>
            <a:r>
              <a:rPr lang="fr-FR" dirty="0"/>
              <a:t>Structure du cours</a:t>
            </a:r>
          </a:p>
        </p:txBody>
      </p:sp>
      <p:sp>
        <p:nvSpPr>
          <p:cNvPr id="3" name="Espace réservé du contenu 2">
            <a:extLst>
              <a:ext uri="{FF2B5EF4-FFF2-40B4-BE49-F238E27FC236}">
                <a16:creationId xmlns:a16="http://schemas.microsoft.com/office/drawing/2014/main" id="{2D45655A-3FA6-1A6B-007F-20736921DDF1}"/>
              </a:ext>
            </a:extLst>
          </p:cNvPr>
          <p:cNvSpPr>
            <a:spLocks noGrp="1"/>
          </p:cNvSpPr>
          <p:nvPr>
            <p:ph idx="1"/>
          </p:nvPr>
        </p:nvSpPr>
        <p:spPr>
          <a:xfrm>
            <a:off x="1261872" y="1828800"/>
            <a:ext cx="10058658" cy="4351337"/>
          </a:xfrm>
        </p:spPr>
        <p:txBody>
          <a:bodyPr/>
          <a:lstStyle/>
          <a:p>
            <a:r>
              <a:rPr lang="fr-FR" dirty="0"/>
              <a:t>Quatre séances restantes :</a:t>
            </a:r>
          </a:p>
          <a:p>
            <a:pPr lvl="1"/>
            <a:r>
              <a:rPr lang="fr-FR" dirty="0"/>
              <a:t>18 novembre – e502</a:t>
            </a:r>
          </a:p>
          <a:p>
            <a:pPr lvl="1"/>
            <a:r>
              <a:rPr lang="fr-FR" dirty="0"/>
              <a:t>25 novembre – e502</a:t>
            </a:r>
          </a:p>
          <a:p>
            <a:pPr lvl="1"/>
            <a:r>
              <a:rPr lang="fr-FR" dirty="0"/>
              <a:t>2 décembre – e502</a:t>
            </a:r>
          </a:p>
          <a:p>
            <a:pPr lvl="1"/>
            <a:r>
              <a:rPr lang="fr-FR" dirty="0"/>
              <a:t>9 décembre – e502 – examen?</a:t>
            </a:r>
          </a:p>
          <a:p>
            <a:r>
              <a:rPr lang="fr-FR" dirty="0"/>
              <a:t>Une feuille d’exercices par cours, solutions doivent être déposés sur Teams</a:t>
            </a:r>
          </a:p>
          <a:p>
            <a:r>
              <a:rPr lang="fr-FR" dirty="0"/>
              <a:t>Note finale basée sur les devoirs, l’examen (?) et la présence</a:t>
            </a:r>
          </a:p>
          <a:p>
            <a:endParaRPr lang="fr-FR" dirty="0"/>
          </a:p>
          <a:p>
            <a:endParaRPr lang="fr-FR" dirty="0"/>
          </a:p>
        </p:txBody>
      </p:sp>
    </p:spTree>
    <p:extLst>
      <p:ext uri="{BB962C8B-B14F-4D97-AF65-F5344CB8AC3E}">
        <p14:creationId xmlns:p14="http://schemas.microsoft.com/office/powerpoint/2010/main" val="2991888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00BAD-5BB0-33DB-9CFB-ABB592FDDF27}"/>
              </a:ext>
            </a:extLst>
          </p:cNvPr>
          <p:cNvSpPr>
            <a:spLocks noGrp="1"/>
          </p:cNvSpPr>
          <p:nvPr>
            <p:ph type="title"/>
          </p:nvPr>
        </p:nvSpPr>
        <p:spPr/>
        <p:txBody>
          <a:bodyPr/>
          <a:lstStyle/>
          <a:p>
            <a:r>
              <a:rPr lang="fr-FR" dirty="0"/>
              <a:t>Les bases de la création d’une présentation</a:t>
            </a:r>
          </a:p>
        </p:txBody>
      </p:sp>
      <p:sp>
        <p:nvSpPr>
          <p:cNvPr id="3" name="Espace réservé du contenu 2">
            <a:extLst>
              <a:ext uri="{FF2B5EF4-FFF2-40B4-BE49-F238E27FC236}">
                <a16:creationId xmlns:a16="http://schemas.microsoft.com/office/drawing/2014/main" id="{AA245688-6CB3-55A2-2111-099DD318FE6B}"/>
              </a:ext>
            </a:extLst>
          </p:cNvPr>
          <p:cNvSpPr>
            <a:spLocks noGrp="1"/>
          </p:cNvSpPr>
          <p:nvPr>
            <p:ph idx="1"/>
          </p:nvPr>
        </p:nvSpPr>
        <p:spPr/>
        <p:txBody>
          <a:bodyPr/>
          <a:lstStyle/>
          <a:p>
            <a:r>
              <a:rPr lang="fr-FR" dirty="0"/>
              <a:t>Une présentation est composée d’une liste de </a:t>
            </a:r>
            <a:r>
              <a:rPr lang="fr-FR" i="1" dirty="0"/>
              <a:t>diapositives.</a:t>
            </a:r>
          </a:p>
          <a:p>
            <a:r>
              <a:rPr lang="fr-FR" dirty="0"/>
              <a:t>On peut ajouter de nouvelles diapositives :</a:t>
            </a:r>
          </a:p>
          <a:p>
            <a:pPr lvl="1"/>
            <a:r>
              <a:rPr lang="fr-FR" dirty="0"/>
              <a:t>soit en cliquant sur « Nouvelle diapositive » dans l’onglet Accueil et choisissant une </a:t>
            </a:r>
            <a:r>
              <a:rPr lang="fr-FR" i="1" dirty="0"/>
              <a:t>disposition,</a:t>
            </a:r>
            <a:endParaRPr lang="fr-FR" dirty="0"/>
          </a:p>
          <a:p>
            <a:pPr lvl="1"/>
            <a:r>
              <a:rPr lang="fr-FR" dirty="0"/>
              <a:t>soit avec le raccourci </a:t>
            </a:r>
            <a:r>
              <a:rPr lang="fr-FR" b="1" i="1" dirty="0" err="1">
                <a:effectLst>
                  <a:outerShdw blurRad="38100" dist="38100" dir="2700000" algn="tl">
                    <a:srgbClr val="000000">
                      <a:alpha val="43137"/>
                    </a:srgbClr>
                  </a:outerShdw>
                </a:effectLst>
              </a:rPr>
              <a:t>Ctrl+M</a:t>
            </a:r>
            <a:r>
              <a:rPr lang="fr-FR" dirty="0"/>
              <a:t>, qui crée une nouvelle diapositive avec la même disposition que la diapositive actuelle.</a:t>
            </a:r>
          </a:p>
          <a:p>
            <a:r>
              <a:rPr lang="fr-FR" dirty="0"/>
              <a:t>On peut accéder aux suggestions de correction orthographique soit avec un clic droit sur un mot souligné en rouge, soit en plaçant le curseur sur le mot et en utilisant le raccourci </a:t>
            </a:r>
            <a:r>
              <a:rPr lang="fr-FR" b="1" i="1" dirty="0">
                <a:effectLst>
                  <a:outerShdw blurRad="38100" dist="38100" dir="2700000" algn="tl">
                    <a:srgbClr val="000000">
                      <a:alpha val="43137"/>
                    </a:srgbClr>
                  </a:outerShdw>
                </a:effectLst>
              </a:rPr>
              <a:t>Maj+F10</a:t>
            </a:r>
            <a:r>
              <a:rPr lang="fr-FR" dirty="0"/>
              <a:t>.</a:t>
            </a:r>
          </a:p>
        </p:txBody>
      </p:sp>
    </p:spTree>
    <p:extLst>
      <p:ext uri="{BB962C8B-B14F-4D97-AF65-F5344CB8AC3E}">
        <p14:creationId xmlns:p14="http://schemas.microsoft.com/office/powerpoint/2010/main" val="3199340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42BB9B-8D53-DF25-148D-D8F2C1F6A137}"/>
              </a:ext>
            </a:extLst>
          </p:cNvPr>
          <p:cNvSpPr>
            <a:spLocks noGrp="1"/>
          </p:cNvSpPr>
          <p:nvPr>
            <p:ph type="title"/>
          </p:nvPr>
        </p:nvSpPr>
        <p:spPr/>
        <p:txBody>
          <a:bodyPr/>
          <a:lstStyle/>
          <a:p>
            <a:r>
              <a:rPr lang="fr-FR" dirty="0"/>
              <a:t>La fenêtre de PowerPoint</a:t>
            </a:r>
          </a:p>
        </p:txBody>
      </p:sp>
      <p:sp>
        <p:nvSpPr>
          <p:cNvPr id="3" name="Espace réservé du contenu 2">
            <a:extLst>
              <a:ext uri="{FF2B5EF4-FFF2-40B4-BE49-F238E27FC236}">
                <a16:creationId xmlns:a16="http://schemas.microsoft.com/office/drawing/2014/main" id="{E7B219E2-B5EE-FA72-CC32-F1B739162A48}"/>
              </a:ext>
            </a:extLst>
          </p:cNvPr>
          <p:cNvSpPr>
            <a:spLocks noGrp="1"/>
          </p:cNvSpPr>
          <p:nvPr>
            <p:ph idx="1"/>
          </p:nvPr>
        </p:nvSpPr>
        <p:spPr/>
        <p:txBody>
          <a:bodyPr>
            <a:normAutofit fontScale="85000" lnSpcReduction="10000"/>
          </a:bodyPr>
          <a:lstStyle/>
          <a:p>
            <a:r>
              <a:rPr lang="fr-FR" dirty="0"/>
              <a:t>La fenêtre de </a:t>
            </a:r>
            <a:r>
              <a:rPr lang="fr-FR" b="1" dirty="0"/>
              <a:t>PowerPoint</a:t>
            </a:r>
            <a:r>
              <a:rPr lang="fr-FR" dirty="0"/>
              <a:t> ressemble un peu à celle de </a:t>
            </a:r>
            <a:r>
              <a:rPr lang="fr-FR" b="1" dirty="0"/>
              <a:t>Word</a:t>
            </a:r>
            <a:r>
              <a:rPr lang="fr-FR" dirty="0"/>
              <a:t>:</a:t>
            </a:r>
          </a:p>
          <a:p>
            <a:r>
              <a:rPr lang="fr-FR" dirty="0"/>
              <a:t>En haut : le </a:t>
            </a:r>
            <a:r>
              <a:rPr lang="fr-FR" b="1" dirty="0"/>
              <a:t>ruban</a:t>
            </a:r>
            <a:r>
              <a:rPr lang="fr-FR" dirty="0"/>
              <a:t>, avec des </a:t>
            </a:r>
            <a:r>
              <a:rPr lang="fr-FR" b="1" dirty="0"/>
              <a:t>onglets</a:t>
            </a:r>
            <a:r>
              <a:rPr lang="fr-FR" dirty="0"/>
              <a:t> tels que « Accueil », « Insertion », … pour accéder aux outils.</a:t>
            </a:r>
          </a:p>
          <a:p>
            <a:r>
              <a:rPr lang="fr-FR" dirty="0"/>
              <a:t>Zone principale de rédaction en dessous.</a:t>
            </a:r>
          </a:p>
          <a:p>
            <a:r>
              <a:rPr lang="fr-FR" dirty="0"/>
              <a:t>A gauche de la zone principale se trouve le volet de </a:t>
            </a:r>
            <a:r>
              <a:rPr lang="fr-FR" i="1" dirty="0"/>
              <a:t>miniatures</a:t>
            </a:r>
            <a:r>
              <a:rPr lang="fr-FR" dirty="0"/>
              <a:t> (anglais : </a:t>
            </a:r>
            <a:r>
              <a:rPr lang="fr-FR" i="1" dirty="0" err="1"/>
              <a:t>thumbnails</a:t>
            </a:r>
            <a:r>
              <a:rPr lang="fr-FR" dirty="0"/>
              <a:t>).</a:t>
            </a:r>
          </a:p>
          <a:p>
            <a:r>
              <a:rPr lang="fr-FR" dirty="0"/>
              <a:t>La zone principale affiche généralement </a:t>
            </a:r>
            <a:r>
              <a:rPr lang="fr-FR" b="1" dirty="0"/>
              <a:t>une seule diapositive à la fois</a:t>
            </a:r>
            <a:r>
              <a:rPr lang="fr-FR" dirty="0"/>
              <a:t>.</a:t>
            </a:r>
          </a:p>
          <a:p>
            <a:r>
              <a:rPr lang="fr-FR" dirty="0"/>
              <a:t>Dans la barre en bas, on peut accéder a différents </a:t>
            </a:r>
            <a:r>
              <a:rPr lang="fr-FR" i="1" dirty="0"/>
              <a:t>modes de vue</a:t>
            </a:r>
            <a:r>
              <a:rPr lang="fr-FR" dirty="0"/>
              <a:t> : </a:t>
            </a:r>
          </a:p>
          <a:p>
            <a:pPr lvl="1"/>
            <a:r>
              <a:rPr lang="fr-FR" dirty="0"/>
              <a:t>Normal</a:t>
            </a:r>
          </a:p>
          <a:p>
            <a:pPr lvl="1"/>
            <a:r>
              <a:rPr lang="fr-FR" dirty="0"/>
              <a:t>Trieuse de diapositives</a:t>
            </a:r>
          </a:p>
          <a:p>
            <a:pPr lvl="1"/>
            <a:r>
              <a:rPr lang="fr-FR" dirty="0"/>
              <a:t>Mode Lecture</a:t>
            </a:r>
          </a:p>
          <a:p>
            <a:pPr lvl="1"/>
            <a:r>
              <a:rPr lang="fr-FR" dirty="0"/>
              <a:t>Mode Diaporama</a:t>
            </a:r>
          </a:p>
          <a:p>
            <a:r>
              <a:rPr lang="fr-FR" dirty="0"/>
              <a:t>Pour sortir des modes </a:t>
            </a:r>
            <a:r>
              <a:rPr lang="fr-FR" i="1" dirty="0"/>
              <a:t>Lecture</a:t>
            </a:r>
            <a:r>
              <a:rPr lang="fr-FR" dirty="0"/>
              <a:t> et </a:t>
            </a:r>
            <a:r>
              <a:rPr lang="fr-FR" i="1" dirty="0"/>
              <a:t>Diaporama</a:t>
            </a:r>
            <a:r>
              <a:rPr lang="fr-FR" dirty="0"/>
              <a:t>, appuyez sur </a:t>
            </a:r>
            <a:r>
              <a:rPr lang="fr-FR" b="1" i="1" dirty="0">
                <a:effectLst>
                  <a:outerShdw blurRad="38100" dist="38100" dir="2700000" algn="tl">
                    <a:srgbClr val="000000">
                      <a:alpha val="43137"/>
                    </a:srgbClr>
                  </a:outerShdw>
                </a:effectLst>
              </a:rPr>
              <a:t>Échap</a:t>
            </a:r>
            <a:r>
              <a:rPr lang="fr-FR" dirty="0"/>
              <a:t>.</a:t>
            </a:r>
          </a:p>
        </p:txBody>
      </p:sp>
    </p:spTree>
    <p:extLst>
      <p:ext uri="{BB962C8B-B14F-4D97-AF65-F5344CB8AC3E}">
        <p14:creationId xmlns:p14="http://schemas.microsoft.com/office/powerpoint/2010/main" val="1337193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07A3FE-8577-67E4-51E3-EAD924CEAB95}"/>
              </a:ext>
            </a:extLst>
          </p:cNvPr>
          <p:cNvSpPr>
            <a:spLocks noGrp="1"/>
          </p:cNvSpPr>
          <p:nvPr>
            <p:ph type="title"/>
          </p:nvPr>
        </p:nvSpPr>
        <p:spPr/>
        <p:txBody>
          <a:bodyPr/>
          <a:lstStyle/>
          <a:p>
            <a:r>
              <a:rPr lang="fr-FR" dirty="0"/>
              <a:t>Différentes dispositions de diapositives</a:t>
            </a:r>
          </a:p>
        </p:txBody>
      </p:sp>
      <p:sp>
        <p:nvSpPr>
          <p:cNvPr id="3" name="Espace réservé du texte 2">
            <a:extLst>
              <a:ext uri="{FF2B5EF4-FFF2-40B4-BE49-F238E27FC236}">
                <a16:creationId xmlns:a16="http://schemas.microsoft.com/office/drawing/2014/main" id="{64C36EDE-A638-90DB-F133-43526CC9A325}"/>
              </a:ext>
            </a:extLst>
          </p:cNvPr>
          <p:cNvSpPr>
            <a:spLocks noGrp="1"/>
          </p:cNvSpPr>
          <p:nvPr>
            <p:ph type="body" idx="1"/>
          </p:nvPr>
        </p:nvSpPr>
        <p:spPr/>
        <p:txBody>
          <a:bodyPr/>
          <a:lstStyle/>
          <a:p>
            <a:r>
              <a:rPr lang="fr-FR" dirty="0"/>
              <a:t>Ceci est une diapositive « Titre de section  »</a:t>
            </a:r>
          </a:p>
        </p:txBody>
      </p:sp>
    </p:spTree>
    <p:extLst>
      <p:ext uri="{BB962C8B-B14F-4D97-AF65-F5344CB8AC3E}">
        <p14:creationId xmlns:p14="http://schemas.microsoft.com/office/powerpoint/2010/main" val="36026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F7360-5290-1403-4FCC-4B4635CF28C8}"/>
              </a:ext>
            </a:extLst>
          </p:cNvPr>
          <p:cNvSpPr>
            <a:spLocks noGrp="1"/>
          </p:cNvSpPr>
          <p:nvPr>
            <p:ph type="title"/>
          </p:nvPr>
        </p:nvSpPr>
        <p:spPr/>
        <p:txBody>
          <a:bodyPr>
            <a:normAutofit fontScale="90000"/>
          </a:bodyPr>
          <a:lstStyle/>
          <a:p>
            <a:r>
              <a:rPr lang="fr-FR" dirty="0"/>
              <a:t>Diapositive « Deux contenus »: Institut universitaire de technologie de Saint-Denis</a:t>
            </a:r>
          </a:p>
        </p:txBody>
      </p:sp>
      <p:sp>
        <p:nvSpPr>
          <p:cNvPr id="3" name="Espace réservé du contenu 2">
            <a:extLst>
              <a:ext uri="{FF2B5EF4-FFF2-40B4-BE49-F238E27FC236}">
                <a16:creationId xmlns:a16="http://schemas.microsoft.com/office/drawing/2014/main" id="{90290AF3-A687-9976-3187-21A704DB1AF8}"/>
              </a:ext>
            </a:extLst>
          </p:cNvPr>
          <p:cNvSpPr>
            <a:spLocks noGrp="1"/>
          </p:cNvSpPr>
          <p:nvPr>
            <p:ph sz="half" idx="1"/>
          </p:nvPr>
        </p:nvSpPr>
        <p:spPr>
          <a:xfrm>
            <a:off x="838200" y="1865100"/>
            <a:ext cx="2749062" cy="4421399"/>
          </a:xfrm>
        </p:spPr>
        <p:txBody>
          <a:bodyPr/>
          <a:lstStyle/>
          <a:p>
            <a:r>
              <a:rPr lang="fr-FR" dirty="0"/>
              <a:t>Partie de l’USPN</a:t>
            </a:r>
          </a:p>
          <a:p>
            <a:r>
              <a:rPr lang="fr-FR" dirty="0"/>
              <a:t>Créé en 1968</a:t>
            </a:r>
          </a:p>
          <a:p>
            <a:r>
              <a:rPr lang="fr-FR" dirty="0"/>
              <a:t>Autour de 2000 étudiants</a:t>
            </a:r>
          </a:p>
          <a:p>
            <a:endParaRPr lang="fr-FR" dirty="0"/>
          </a:p>
          <a:p>
            <a:r>
              <a:rPr lang="fr-FR" dirty="0"/>
              <a:t>(</a:t>
            </a:r>
            <a:r>
              <a:rPr lang="fr-FR" b="1" i="1" dirty="0">
                <a:effectLst>
                  <a:outerShdw blurRad="38100" dist="38100" dir="2700000" algn="tl">
                    <a:srgbClr val="000000">
                      <a:alpha val="43137"/>
                    </a:srgbClr>
                  </a:outerShdw>
                </a:effectLst>
              </a:rPr>
              <a:t>clic droit </a:t>
            </a:r>
            <a:r>
              <a:rPr lang="fr-FR" b="1" i="1" dirty="0">
                <a:effectLst>
                  <a:outerShdw blurRad="38100" dist="38100" dir="2700000" algn="tl">
                    <a:srgbClr val="000000">
                      <a:alpha val="43137"/>
                    </a:srgbClr>
                  </a:outerShdw>
                </a:effectLst>
                <a:sym typeface="Wingdings" panose="05000000000000000000" pitchFamily="2" charset="2"/>
              </a:rPr>
              <a:t> rogner</a:t>
            </a:r>
            <a:r>
              <a:rPr lang="fr-FR" dirty="0">
                <a:sym typeface="Wingdings" panose="05000000000000000000" pitchFamily="2" charset="2"/>
              </a:rPr>
              <a:t> pour modifier les dimensions d’une image)</a:t>
            </a:r>
            <a:endParaRPr lang="fr-FR" dirty="0"/>
          </a:p>
        </p:txBody>
      </p:sp>
      <p:pic>
        <p:nvPicPr>
          <p:cNvPr id="6" name="Espace réservé du contenu 5">
            <a:extLst>
              <a:ext uri="{FF2B5EF4-FFF2-40B4-BE49-F238E27FC236}">
                <a16:creationId xmlns:a16="http://schemas.microsoft.com/office/drawing/2014/main" id="{FC98BBBC-9941-E33F-4242-E0E6FA60AA84}"/>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1349"/>
          <a:stretch/>
        </p:blipFill>
        <p:spPr>
          <a:xfrm>
            <a:off x="3721100" y="1865100"/>
            <a:ext cx="8331200" cy="48813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0232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551C7C-76C7-0900-B127-2736833C6F0B}"/>
              </a:ext>
            </a:extLst>
          </p:cNvPr>
          <p:cNvSpPr>
            <a:spLocks noGrp="1"/>
          </p:cNvSpPr>
          <p:nvPr>
            <p:ph type="title"/>
          </p:nvPr>
        </p:nvSpPr>
        <p:spPr/>
        <p:txBody>
          <a:bodyPr/>
          <a:lstStyle/>
          <a:p>
            <a:r>
              <a:rPr lang="fr-FR" dirty="0"/>
              <a:t>Diapositive « Comparaison »</a:t>
            </a:r>
          </a:p>
        </p:txBody>
      </p:sp>
      <p:sp>
        <p:nvSpPr>
          <p:cNvPr id="3" name="Espace réservé du texte 2">
            <a:extLst>
              <a:ext uri="{FF2B5EF4-FFF2-40B4-BE49-F238E27FC236}">
                <a16:creationId xmlns:a16="http://schemas.microsoft.com/office/drawing/2014/main" id="{45D9EB55-3561-77E7-D422-6A5D763E295A}"/>
              </a:ext>
            </a:extLst>
          </p:cNvPr>
          <p:cNvSpPr>
            <a:spLocks noGrp="1"/>
          </p:cNvSpPr>
          <p:nvPr>
            <p:ph type="body" idx="1"/>
          </p:nvPr>
        </p:nvSpPr>
        <p:spPr/>
        <p:txBody>
          <a:bodyPr/>
          <a:lstStyle/>
          <a:p>
            <a:r>
              <a:rPr lang="fr-FR" dirty="0"/>
              <a:t>Paris</a:t>
            </a:r>
          </a:p>
        </p:txBody>
      </p:sp>
      <p:sp>
        <p:nvSpPr>
          <p:cNvPr id="4" name="Espace réservé du contenu 3">
            <a:extLst>
              <a:ext uri="{FF2B5EF4-FFF2-40B4-BE49-F238E27FC236}">
                <a16:creationId xmlns:a16="http://schemas.microsoft.com/office/drawing/2014/main" id="{533D3500-991F-CB9F-145F-4C85E8DAD690}"/>
              </a:ext>
            </a:extLst>
          </p:cNvPr>
          <p:cNvSpPr>
            <a:spLocks noGrp="1"/>
          </p:cNvSpPr>
          <p:nvPr>
            <p:ph sz="half" idx="2"/>
          </p:nvPr>
        </p:nvSpPr>
        <p:spPr/>
        <p:txBody>
          <a:bodyPr/>
          <a:lstStyle/>
          <a:p>
            <a:r>
              <a:rPr lang="fr-FR" dirty="0"/>
              <a:t>Capitale de la France</a:t>
            </a:r>
          </a:p>
          <a:p>
            <a:r>
              <a:rPr lang="fr-FR" dirty="0"/>
              <a:t>Population : environ 2,1 millions</a:t>
            </a:r>
          </a:p>
          <a:p>
            <a:r>
              <a:rPr lang="fr-FR" dirty="0"/>
              <a:t>Altitude moyenne : 28 mètres</a:t>
            </a:r>
          </a:p>
        </p:txBody>
      </p:sp>
      <p:sp>
        <p:nvSpPr>
          <p:cNvPr id="5" name="Espace réservé du texte 4">
            <a:extLst>
              <a:ext uri="{FF2B5EF4-FFF2-40B4-BE49-F238E27FC236}">
                <a16:creationId xmlns:a16="http://schemas.microsoft.com/office/drawing/2014/main" id="{90FA1AB5-76E3-63B3-85BD-DBBC17B41F2B}"/>
              </a:ext>
            </a:extLst>
          </p:cNvPr>
          <p:cNvSpPr>
            <a:spLocks noGrp="1"/>
          </p:cNvSpPr>
          <p:nvPr>
            <p:ph type="body" sz="quarter" idx="3"/>
          </p:nvPr>
        </p:nvSpPr>
        <p:spPr/>
        <p:txBody>
          <a:bodyPr/>
          <a:lstStyle/>
          <a:p>
            <a:r>
              <a:rPr lang="fr-FR" dirty="0"/>
              <a:t>Marseille</a:t>
            </a:r>
          </a:p>
        </p:txBody>
      </p:sp>
      <p:sp>
        <p:nvSpPr>
          <p:cNvPr id="6" name="Espace réservé du contenu 5">
            <a:extLst>
              <a:ext uri="{FF2B5EF4-FFF2-40B4-BE49-F238E27FC236}">
                <a16:creationId xmlns:a16="http://schemas.microsoft.com/office/drawing/2014/main" id="{02C2A9D8-C2EB-1582-A1D5-F86E4A7973D3}"/>
              </a:ext>
            </a:extLst>
          </p:cNvPr>
          <p:cNvSpPr>
            <a:spLocks noGrp="1"/>
          </p:cNvSpPr>
          <p:nvPr>
            <p:ph sz="quarter" idx="4"/>
          </p:nvPr>
        </p:nvSpPr>
        <p:spPr/>
        <p:txBody>
          <a:bodyPr/>
          <a:lstStyle/>
          <a:p>
            <a:r>
              <a:rPr lang="fr-FR" dirty="0"/>
              <a:t>Plus ancienne ville de France</a:t>
            </a:r>
          </a:p>
          <a:p>
            <a:r>
              <a:rPr lang="fr-FR" dirty="0"/>
              <a:t>Population municipale : 870.000</a:t>
            </a:r>
          </a:p>
          <a:p>
            <a:r>
              <a:rPr lang="fr-FR" dirty="0"/>
              <a:t>Altitude moyenne : 35 mètres</a:t>
            </a:r>
          </a:p>
        </p:txBody>
      </p:sp>
    </p:spTree>
    <p:extLst>
      <p:ext uri="{BB962C8B-B14F-4D97-AF65-F5344CB8AC3E}">
        <p14:creationId xmlns:p14="http://schemas.microsoft.com/office/powerpoint/2010/main" val="1686302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E81650-D2D2-4E01-590C-30F6F17705E1}"/>
              </a:ext>
            </a:extLst>
          </p:cNvPr>
          <p:cNvSpPr>
            <a:spLocks noGrp="1"/>
          </p:cNvSpPr>
          <p:nvPr>
            <p:ph type="title"/>
          </p:nvPr>
        </p:nvSpPr>
        <p:spPr/>
        <p:txBody>
          <a:bodyPr/>
          <a:lstStyle/>
          <a:p>
            <a:r>
              <a:rPr lang="fr-FR" dirty="0"/>
              <a:t>Diapositive « Contenu avec légende »</a:t>
            </a:r>
          </a:p>
        </p:txBody>
      </p:sp>
      <p:graphicFrame>
        <p:nvGraphicFramePr>
          <p:cNvPr id="11" name="Espace réservé du contenu 10">
            <a:extLst>
              <a:ext uri="{FF2B5EF4-FFF2-40B4-BE49-F238E27FC236}">
                <a16:creationId xmlns:a16="http://schemas.microsoft.com/office/drawing/2014/main" id="{78301CB3-E605-C00F-B721-124316C3EC21}"/>
              </a:ext>
            </a:extLst>
          </p:cNvPr>
          <p:cNvGraphicFramePr>
            <a:graphicFrameLocks noGrp="1"/>
          </p:cNvGraphicFramePr>
          <p:nvPr>
            <p:ph idx="1"/>
            <p:extLst>
              <p:ext uri="{D42A27DB-BD31-4B8C-83A1-F6EECF244321}">
                <p14:modId xmlns:p14="http://schemas.microsoft.com/office/powerpoint/2010/main" val="2536970001"/>
              </p:ext>
            </p:extLst>
          </p:nvPr>
        </p:nvGraphicFramePr>
        <p:xfrm>
          <a:off x="4503738" y="685800"/>
          <a:ext cx="6080128" cy="3594101"/>
        </p:xfrm>
        <a:graphic>
          <a:graphicData uri="http://schemas.openxmlformats.org/drawingml/2006/table">
            <a:tbl>
              <a:tblPr firstRow="1" bandRow="1">
                <a:tableStyleId>{5C22544A-7EE6-4342-B048-85BDC9FD1C3A}</a:tableStyleId>
              </a:tblPr>
              <a:tblGrid>
                <a:gridCol w="1520032">
                  <a:extLst>
                    <a:ext uri="{9D8B030D-6E8A-4147-A177-3AD203B41FA5}">
                      <a16:colId xmlns:a16="http://schemas.microsoft.com/office/drawing/2014/main" val="2690213899"/>
                    </a:ext>
                  </a:extLst>
                </a:gridCol>
                <a:gridCol w="1520032">
                  <a:extLst>
                    <a:ext uri="{9D8B030D-6E8A-4147-A177-3AD203B41FA5}">
                      <a16:colId xmlns:a16="http://schemas.microsoft.com/office/drawing/2014/main" val="466932419"/>
                    </a:ext>
                  </a:extLst>
                </a:gridCol>
                <a:gridCol w="1520032">
                  <a:extLst>
                    <a:ext uri="{9D8B030D-6E8A-4147-A177-3AD203B41FA5}">
                      <a16:colId xmlns:a16="http://schemas.microsoft.com/office/drawing/2014/main" val="1013502414"/>
                    </a:ext>
                  </a:extLst>
                </a:gridCol>
                <a:gridCol w="1520032">
                  <a:extLst>
                    <a:ext uri="{9D8B030D-6E8A-4147-A177-3AD203B41FA5}">
                      <a16:colId xmlns:a16="http://schemas.microsoft.com/office/drawing/2014/main" val="3159571781"/>
                    </a:ext>
                  </a:extLst>
                </a:gridCol>
              </a:tblGrid>
              <a:tr h="513443">
                <a:tc>
                  <a:txBody>
                    <a:bodyPr/>
                    <a:lstStyle/>
                    <a:p>
                      <a:endParaRPr lang="fr-FR" dirty="0"/>
                    </a:p>
                  </a:txBody>
                  <a:tcPr marL="90076" marR="90076"/>
                </a:tc>
                <a:tc>
                  <a:txBody>
                    <a:bodyPr/>
                    <a:lstStyle/>
                    <a:p>
                      <a:endParaRPr lang="fr-FR" dirty="0"/>
                    </a:p>
                  </a:txBody>
                  <a:tcPr marL="90076" marR="90076"/>
                </a:tc>
                <a:tc>
                  <a:txBody>
                    <a:bodyPr/>
                    <a:lstStyle/>
                    <a:p>
                      <a:endParaRPr lang="fr-FR" dirty="0"/>
                    </a:p>
                  </a:txBody>
                  <a:tcPr marL="90076" marR="90076"/>
                </a:tc>
                <a:tc>
                  <a:txBody>
                    <a:bodyPr/>
                    <a:lstStyle/>
                    <a:p>
                      <a:endParaRPr lang="fr-FR" dirty="0"/>
                    </a:p>
                  </a:txBody>
                  <a:tcPr marL="90076" marR="90076"/>
                </a:tc>
                <a:extLst>
                  <a:ext uri="{0D108BD9-81ED-4DB2-BD59-A6C34878D82A}">
                    <a16:rowId xmlns:a16="http://schemas.microsoft.com/office/drawing/2014/main" val="379173422"/>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1942697295"/>
                  </a:ext>
                </a:extLst>
              </a:tr>
              <a:tr h="513443">
                <a:tc>
                  <a:txBody>
                    <a:bodyPr/>
                    <a:lstStyle/>
                    <a:p>
                      <a:endParaRPr lang="fr-FR"/>
                    </a:p>
                  </a:txBody>
                  <a:tcPr marL="90076" marR="90076"/>
                </a:tc>
                <a:tc>
                  <a:txBody>
                    <a:bodyPr/>
                    <a:lstStyle/>
                    <a:p>
                      <a:endParaRPr lang="fr-FR" dirty="0"/>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2512673730"/>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983050950"/>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3620240401"/>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3454569957"/>
                  </a:ext>
                </a:extLst>
              </a:tr>
              <a:tr h="513443">
                <a:tc>
                  <a:txBody>
                    <a:bodyPr/>
                    <a:lstStyle/>
                    <a:p>
                      <a:endParaRPr lang="fr-FR"/>
                    </a:p>
                  </a:txBody>
                  <a:tcPr marL="90076" marR="90076"/>
                </a:tc>
                <a:tc>
                  <a:txBody>
                    <a:bodyPr/>
                    <a:lstStyle/>
                    <a:p>
                      <a:endParaRPr lang="fr-FR"/>
                    </a:p>
                  </a:txBody>
                  <a:tcPr marL="90076" marR="90076"/>
                </a:tc>
                <a:tc>
                  <a:txBody>
                    <a:bodyPr/>
                    <a:lstStyle/>
                    <a:p>
                      <a:endParaRPr lang="fr-FR" dirty="0"/>
                    </a:p>
                  </a:txBody>
                  <a:tcPr marL="90076" marR="90076"/>
                </a:tc>
                <a:tc>
                  <a:txBody>
                    <a:bodyPr/>
                    <a:lstStyle/>
                    <a:p>
                      <a:endParaRPr lang="fr-FR" dirty="0"/>
                    </a:p>
                  </a:txBody>
                  <a:tcPr marL="90076" marR="90076"/>
                </a:tc>
                <a:extLst>
                  <a:ext uri="{0D108BD9-81ED-4DB2-BD59-A6C34878D82A}">
                    <a16:rowId xmlns:a16="http://schemas.microsoft.com/office/drawing/2014/main" val="3498352517"/>
                  </a:ext>
                </a:extLst>
              </a:tr>
            </a:tbl>
          </a:graphicData>
        </a:graphic>
      </p:graphicFrame>
      <p:sp>
        <p:nvSpPr>
          <p:cNvPr id="4" name="Espace réservé du texte 3">
            <a:extLst>
              <a:ext uri="{FF2B5EF4-FFF2-40B4-BE49-F238E27FC236}">
                <a16:creationId xmlns:a16="http://schemas.microsoft.com/office/drawing/2014/main" id="{471AE8BD-FA0E-E0A0-7D8B-DB46C4855B5D}"/>
              </a:ext>
            </a:extLst>
          </p:cNvPr>
          <p:cNvSpPr>
            <a:spLocks noGrp="1"/>
          </p:cNvSpPr>
          <p:nvPr>
            <p:ph type="body" sz="half" idx="2"/>
          </p:nvPr>
        </p:nvSpPr>
        <p:spPr/>
        <p:txBody>
          <a:bodyPr/>
          <a:lstStyle/>
          <a:p>
            <a:pPr marL="285750" indent="-285750">
              <a:buFont typeface="Arial" panose="020B0604020202020204" pitchFamily="34" charset="0"/>
              <a:buChar char="•"/>
            </a:pPr>
            <a:r>
              <a:rPr lang="fr-FR" dirty="0"/>
              <a:t>Cette disposition ressemble « deux contenus » mais avec une répartition différente</a:t>
            </a:r>
          </a:p>
          <a:p>
            <a:pPr marL="285750" indent="-285750">
              <a:buFont typeface="Arial" panose="020B0604020202020204" pitchFamily="34" charset="0"/>
              <a:buChar char="•"/>
            </a:pPr>
            <a:r>
              <a:rPr lang="fr-FR" dirty="0"/>
              <a:t>Cette fois ci, on met un tableau à droite</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988935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7ABDF1-6961-A4C5-CD45-47B534C17983}"/>
              </a:ext>
            </a:extLst>
          </p:cNvPr>
          <p:cNvSpPr>
            <a:spLocks noGrp="1"/>
          </p:cNvSpPr>
          <p:nvPr>
            <p:ph type="title"/>
          </p:nvPr>
        </p:nvSpPr>
        <p:spPr/>
        <p:txBody>
          <a:bodyPr/>
          <a:lstStyle/>
          <a:p>
            <a:r>
              <a:rPr lang="fr-FR" dirty="0"/>
              <a:t>Diapositive « Titre seul »</a:t>
            </a:r>
          </a:p>
        </p:txBody>
      </p:sp>
      <p:sp>
        <p:nvSpPr>
          <p:cNvPr id="4" name="ZoneTexte 3">
            <a:extLst>
              <a:ext uri="{FF2B5EF4-FFF2-40B4-BE49-F238E27FC236}">
                <a16:creationId xmlns:a16="http://schemas.microsoft.com/office/drawing/2014/main" id="{4ACE009B-FDB7-6203-95A5-51D0980616B1}"/>
              </a:ext>
            </a:extLst>
          </p:cNvPr>
          <p:cNvSpPr txBox="1"/>
          <p:nvPr/>
        </p:nvSpPr>
        <p:spPr>
          <a:xfrm>
            <a:off x="838200" y="1955800"/>
            <a:ext cx="8978900" cy="923330"/>
          </a:xfrm>
          <a:prstGeom prst="rect">
            <a:avLst/>
          </a:prstGeom>
          <a:noFill/>
        </p:spPr>
        <p:txBody>
          <a:bodyPr wrap="square" rtlCol="0">
            <a:spAutoFit/>
          </a:bodyPr>
          <a:lstStyle/>
          <a:p>
            <a:pPr marL="285750" indent="-285750">
              <a:buFont typeface="Arial" panose="020B0604020202020204" pitchFamily="34" charset="0"/>
              <a:buChar char="•"/>
            </a:pPr>
            <a:r>
              <a:rPr lang="fr-FR" dirty="0"/>
              <a:t>Si aucune des dispositions standards convient, on peut utiliser  « Titre seul », ou « Vide », et ajouter des zones à la main.</a:t>
            </a:r>
          </a:p>
          <a:p>
            <a:pPr marL="285750" indent="-285750">
              <a:buFont typeface="Arial" panose="020B0604020202020204" pitchFamily="34" charset="0"/>
              <a:buChar char="•"/>
            </a:pPr>
            <a:r>
              <a:rPr lang="fr-FR" dirty="0"/>
              <a:t>On ajoute des zones de texte par </a:t>
            </a:r>
            <a:r>
              <a:rPr lang="fr-FR" b="1" dirty="0"/>
              <a:t>Insertion </a:t>
            </a:r>
            <a:r>
              <a:rPr lang="fr-FR" b="1" dirty="0">
                <a:sym typeface="Wingdings" panose="05000000000000000000" pitchFamily="2" charset="2"/>
              </a:rPr>
              <a:t> Texte  Zone de texte</a:t>
            </a:r>
            <a:endParaRPr lang="fr-FR" dirty="0"/>
          </a:p>
        </p:txBody>
      </p:sp>
    </p:spTree>
    <p:extLst>
      <p:ext uri="{BB962C8B-B14F-4D97-AF65-F5344CB8AC3E}">
        <p14:creationId xmlns:p14="http://schemas.microsoft.com/office/powerpoint/2010/main" val="2986612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A04A36-AF37-C255-0C76-D156A6E3B61C}"/>
              </a:ext>
            </a:extLst>
          </p:cNvPr>
          <p:cNvSpPr>
            <a:spLocks noGrp="1"/>
          </p:cNvSpPr>
          <p:nvPr>
            <p:ph type="title"/>
          </p:nvPr>
        </p:nvSpPr>
        <p:spPr/>
        <p:txBody>
          <a:bodyPr/>
          <a:lstStyle/>
          <a:p>
            <a:r>
              <a:rPr lang="fr-FR" dirty="0"/>
              <a:t>Manipulation des zones de texte</a:t>
            </a:r>
          </a:p>
        </p:txBody>
      </p:sp>
      <p:sp>
        <p:nvSpPr>
          <p:cNvPr id="3" name="ZoneTexte 2">
            <a:extLst>
              <a:ext uri="{FF2B5EF4-FFF2-40B4-BE49-F238E27FC236}">
                <a16:creationId xmlns:a16="http://schemas.microsoft.com/office/drawing/2014/main" id="{0732E84D-72F7-2F3A-F404-57B894048474}"/>
              </a:ext>
            </a:extLst>
          </p:cNvPr>
          <p:cNvSpPr txBox="1"/>
          <p:nvPr/>
        </p:nvSpPr>
        <p:spPr>
          <a:xfrm rot="1215865">
            <a:off x="965200" y="2069976"/>
            <a:ext cx="1727200" cy="3683124"/>
          </a:xfrm>
          <a:prstGeom prst="rect">
            <a:avLst/>
          </a:prstGeom>
          <a:noFill/>
        </p:spPr>
        <p:txBody>
          <a:bodyPr wrap="square" rtlCol="0">
            <a:spAutoFit/>
          </a:bodyPr>
          <a:lstStyle/>
          <a:p>
            <a:r>
              <a:rPr lang="fr-FR" dirty="0"/>
              <a:t>En cliquant sur le bord d’une zone de texte, les poignées (boules), ou sur la flèche en haut, on peut remplacer la zone, changer sa taille, ou la faire pivoter.</a:t>
            </a:r>
          </a:p>
        </p:txBody>
      </p:sp>
      <p:sp>
        <p:nvSpPr>
          <p:cNvPr id="4" name="ZoneTexte 3">
            <a:extLst>
              <a:ext uri="{FF2B5EF4-FFF2-40B4-BE49-F238E27FC236}">
                <a16:creationId xmlns:a16="http://schemas.microsoft.com/office/drawing/2014/main" id="{0919AD94-5137-358A-D724-567D7E483B31}"/>
              </a:ext>
            </a:extLst>
          </p:cNvPr>
          <p:cNvSpPr txBox="1"/>
          <p:nvPr/>
        </p:nvSpPr>
        <p:spPr>
          <a:xfrm>
            <a:off x="3441700" y="2247900"/>
            <a:ext cx="3162300" cy="2308324"/>
          </a:xfrm>
          <a:prstGeom prst="rect">
            <a:avLst/>
          </a:prstGeom>
          <a:solidFill>
            <a:schemeClr val="accent1">
              <a:lumMod val="20000"/>
              <a:lumOff val="80000"/>
            </a:schemeClr>
          </a:solidFill>
        </p:spPr>
        <p:txBody>
          <a:bodyPr wrap="square" rtlCol="0">
            <a:spAutoFit/>
          </a:bodyPr>
          <a:lstStyle/>
          <a:p>
            <a:pPr algn="ctr"/>
            <a:r>
              <a:rPr lang="fr-FR" sz="2400" dirty="0">
                <a:solidFill>
                  <a:schemeClr val="accent2">
                    <a:lumMod val="60000"/>
                    <a:lumOff val="40000"/>
                  </a:schemeClr>
                </a:solidFill>
                <a:latin typeface="Aptos Display" panose="020B0004020202020204" pitchFamily="34" charset="0"/>
              </a:rPr>
              <a:t>En cliquant sur le bord, on peut sélectionner « tout la zone », et peut par exemple changer la police, sa taille, sa couleur, ou l’alignement</a:t>
            </a:r>
          </a:p>
        </p:txBody>
      </p:sp>
      <p:sp>
        <p:nvSpPr>
          <p:cNvPr id="5" name="ZoneTexte 4">
            <a:extLst>
              <a:ext uri="{FF2B5EF4-FFF2-40B4-BE49-F238E27FC236}">
                <a16:creationId xmlns:a16="http://schemas.microsoft.com/office/drawing/2014/main" id="{B7D26F13-67F9-64F3-60B1-A526EDB2B6F5}"/>
              </a:ext>
            </a:extLst>
          </p:cNvPr>
          <p:cNvSpPr txBox="1"/>
          <p:nvPr/>
        </p:nvSpPr>
        <p:spPr>
          <a:xfrm>
            <a:off x="7175500" y="2082800"/>
            <a:ext cx="2794000" cy="1477328"/>
          </a:xfrm>
          <a:prstGeom prst="rect">
            <a:avLst/>
          </a:prstGeom>
          <a:noFill/>
        </p:spPr>
        <p:txBody>
          <a:bodyPr wrap="square" rtlCol="0">
            <a:spAutoFit/>
          </a:bodyPr>
          <a:lstStyle/>
          <a:p>
            <a:r>
              <a:rPr lang="fr-FR" dirty="0"/>
              <a:t>L’onglet « Format de forme » offre plus de possibilités de configurer l’apparence d’une boite de texte.</a:t>
            </a:r>
          </a:p>
        </p:txBody>
      </p:sp>
      <p:sp>
        <p:nvSpPr>
          <p:cNvPr id="6" name="ZoneTexte 5">
            <a:extLst>
              <a:ext uri="{FF2B5EF4-FFF2-40B4-BE49-F238E27FC236}">
                <a16:creationId xmlns:a16="http://schemas.microsoft.com/office/drawing/2014/main" id="{F1938781-59F7-67AC-9FC9-6BA1D45CC660}"/>
              </a:ext>
            </a:extLst>
          </p:cNvPr>
          <p:cNvSpPr txBox="1"/>
          <p:nvPr/>
        </p:nvSpPr>
        <p:spPr>
          <a:xfrm>
            <a:off x="7404100" y="4381500"/>
            <a:ext cx="1938351" cy="369332"/>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r>
              <a:rPr lang="fr-FR" dirty="0"/>
              <a:t>Styles de formes</a:t>
            </a:r>
          </a:p>
        </p:txBody>
      </p:sp>
    </p:spTree>
    <p:extLst>
      <p:ext uri="{BB962C8B-B14F-4D97-AF65-F5344CB8AC3E}">
        <p14:creationId xmlns:p14="http://schemas.microsoft.com/office/powerpoint/2010/main" val="129339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67E77A-417C-7DD2-D133-2D88A4C19CBC}"/>
              </a:ext>
            </a:extLst>
          </p:cNvPr>
          <p:cNvSpPr>
            <a:spLocks noGrp="1"/>
          </p:cNvSpPr>
          <p:nvPr>
            <p:ph type="title"/>
          </p:nvPr>
        </p:nvSpPr>
        <p:spPr/>
        <p:txBody>
          <a:bodyPr/>
          <a:lstStyle/>
          <a:p>
            <a:r>
              <a:rPr lang="fr-FR" dirty="0"/>
              <a:t>L’onglet « Format de forme »</a:t>
            </a:r>
          </a:p>
        </p:txBody>
      </p:sp>
      <p:sp>
        <p:nvSpPr>
          <p:cNvPr id="3" name="ZoneTexte 2">
            <a:extLst>
              <a:ext uri="{FF2B5EF4-FFF2-40B4-BE49-F238E27FC236}">
                <a16:creationId xmlns:a16="http://schemas.microsoft.com/office/drawing/2014/main" id="{BFEC52D2-C0A4-B59E-EA98-169CF57A9AA1}"/>
              </a:ext>
            </a:extLst>
          </p:cNvPr>
          <p:cNvSpPr txBox="1"/>
          <p:nvPr/>
        </p:nvSpPr>
        <p:spPr>
          <a:xfrm>
            <a:off x="825500" y="3429000"/>
            <a:ext cx="1993900"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fr-FR" dirty="0"/>
              <a:t>Dans l’onglet « Format de forme », on peut changer le </a:t>
            </a:r>
            <a:r>
              <a:rPr lang="fr-FR" b="1" dirty="0"/>
              <a:t>Style de Forme</a:t>
            </a:r>
            <a:endParaRPr lang="fr-FR" dirty="0"/>
          </a:p>
        </p:txBody>
      </p:sp>
      <p:sp>
        <p:nvSpPr>
          <p:cNvPr id="4" name="ZoneTexte 3">
            <a:extLst>
              <a:ext uri="{FF2B5EF4-FFF2-40B4-BE49-F238E27FC236}">
                <a16:creationId xmlns:a16="http://schemas.microsoft.com/office/drawing/2014/main" id="{B61468BC-450B-C24B-0BB8-80E5EFEDFB1F}"/>
              </a:ext>
            </a:extLst>
          </p:cNvPr>
          <p:cNvSpPr txBox="1"/>
          <p:nvPr/>
        </p:nvSpPr>
        <p:spPr>
          <a:xfrm>
            <a:off x="825500" y="5213866"/>
            <a:ext cx="4193600" cy="1569660"/>
          </a:xfrm>
          <a:prstGeom prst="rect">
            <a:avLst/>
          </a:prstGeom>
          <a:noFill/>
        </p:spPr>
        <p:txBody>
          <a:bodyPr wrap="square" rtlCol="0">
            <a:spAutoFit/>
          </a:bodyPr>
          <a:lstStyle/>
          <a:p>
            <a:r>
              <a:rPr lang="fr-FR" sz="3200" b="1" dirty="0">
                <a:ln w="9525">
                  <a:solidFill>
                    <a:schemeClr val="bg1"/>
                  </a:solidFill>
                  <a:prstDash val="solid"/>
                </a:ln>
                <a:effectLst>
                  <a:outerShdw blurRad="12700" dist="38100" dir="2700000" algn="tl" rotWithShape="0">
                    <a:schemeClr val="bg1">
                      <a:lumMod val="50000"/>
                    </a:schemeClr>
                  </a:outerShdw>
                </a:effectLst>
              </a:rPr>
              <a:t>Et le Style </a:t>
            </a:r>
            <a:r>
              <a:rPr lang="fr-FR" sz="3200" b="1" dirty="0" err="1">
                <a:ln w="9525">
                  <a:solidFill>
                    <a:schemeClr val="bg1"/>
                  </a:solidFill>
                  <a:prstDash val="solid"/>
                </a:ln>
                <a:effectLst>
                  <a:outerShdw blurRad="12700" dist="38100" dir="2700000" algn="tl" rotWithShape="0">
                    <a:schemeClr val="bg1">
                      <a:lumMod val="50000"/>
                    </a:schemeClr>
                  </a:outerShdw>
                </a:effectLst>
              </a:rPr>
              <a:t>Wordart</a:t>
            </a:r>
            <a:r>
              <a:rPr lang="fr-FR" sz="3200" b="1" dirty="0">
                <a:ln w="9525">
                  <a:solidFill>
                    <a:schemeClr val="bg1"/>
                  </a:solidFill>
                  <a:prstDash val="solid"/>
                </a:ln>
                <a:effectLst>
                  <a:outerShdw blurRad="12700" dist="38100" dir="2700000" algn="tl" rotWithShape="0">
                    <a:schemeClr val="bg1">
                      <a:lumMod val="50000"/>
                    </a:schemeClr>
                  </a:outerShdw>
                </a:effectLst>
              </a:rPr>
              <a:t> (à utiliser avec parcimonie)</a:t>
            </a:r>
          </a:p>
        </p:txBody>
      </p:sp>
      <p:sp>
        <p:nvSpPr>
          <p:cNvPr id="6" name="ZoneTexte 5">
            <a:extLst>
              <a:ext uri="{FF2B5EF4-FFF2-40B4-BE49-F238E27FC236}">
                <a16:creationId xmlns:a16="http://schemas.microsoft.com/office/drawing/2014/main" id="{6F1C3160-AA8B-DC6F-5C35-0FF44BB321B7}"/>
              </a:ext>
            </a:extLst>
          </p:cNvPr>
          <p:cNvSpPr txBox="1"/>
          <p:nvPr/>
        </p:nvSpPr>
        <p:spPr>
          <a:xfrm>
            <a:off x="6477000" y="3429000"/>
            <a:ext cx="2209800" cy="369332"/>
          </a:xfrm>
          <a:prstGeom prst="rect">
            <a:avLst/>
          </a:prstGeom>
          <a:solidFill>
            <a:schemeClr val="accent2">
              <a:lumMod val="60000"/>
              <a:lumOff val="40000"/>
            </a:schemeClr>
          </a:solidFill>
        </p:spPr>
        <p:txBody>
          <a:bodyPr wrap="square" rtlCol="0">
            <a:spAutoFit/>
          </a:bodyPr>
          <a:lstStyle/>
          <a:p>
            <a:r>
              <a:rPr lang="fr-FR" dirty="0"/>
              <a:t>Remplissage</a:t>
            </a:r>
          </a:p>
        </p:txBody>
      </p:sp>
      <p:sp>
        <p:nvSpPr>
          <p:cNvPr id="7" name="ZoneTexte 6">
            <a:extLst>
              <a:ext uri="{FF2B5EF4-FFF2-40B4-BE49-F238E27FC236}">
                <a16:creationId xmlns:a16="http://schemas.microsoft.com/office/drawing/2014/main" id="{893105AA-5FE3-4C1D-3F3E-E37CD2EC15E0}"/>
              </a:ext>
            </a:extLst>
          </p:cNvPr>
          <p:cNvSpPr txBox="1"/>
          <p:nvPr/>
        </p:nvSpPr>
        <p:spPr>
          <a:xfrm>
            <a:off x="3962400" y="3429000"/>
            <a:ext cx="1056700" cy="369332"/>
          </a:xfrm>
          <a:prstGeom prst="rect">
            <a:avLst/>
          </a:prstGeom>
          <a:noFill/>
          <a:ln>
            <a:solidFill>
              <a:schemeClr val="accent5">
                <a:lumMod val="75000"/>
              </a:schemeClr>
            </a:solidFill>
          </a:ln>
        </p:spPr>
        <p:txBody>
          <a:bodyPr wrap="none" rtlCol="0">
            <a:spAutoFit/>
          </a:bodyPr>
          <a:lstStyle/>
          <a:p>
            <a:r>
              <a:rPr lang="fr-FR" dirty="0"/>
              <a:t>Contour</a:t>
            </a:r>
          </a:p>
        </p:txBody>
      </p:sp>
      <p:sp>
        <p:nvSpPr>
          <p:cNvPr id="8" name="ZoneTexte 7">
            <a:extLst>
              <a:ext uri="{FF2B5EF4-FFF2-40B4-BE49-F238E27FC236}">
                <a16:creationId xmlns:a16="http://schemas.microsoft.com/office/drawing/2014/main" id="{EF8CED8D-0B9E-4475-7C25-DD5F06FEB89F}"/>
              </a:ext>
            </a:extLst>
          </p:cNvPr>
          <p:cNvSpPr txBox="1"/>
          <p:nvPr/>
        </p:nvSpPr>
        <p:spPr>
          <a:xfrm>
            <a:off x="5019100" y="5029200"/>
            <a:ext cx="2804100" cy="369332"/>
          </a:xfrm>
          <a:prstGeom prst="rect">
            <a:avLst/>
          </a:prstGeom>
          <a:blipFill>
            <a:blip r:embed="rId2"/>
            <a:tile tx="0" ty="0" sx="100000" sy="100000" flip="none" algn="tl"/>
          </a:blipFill>
        </p:spPr>
        <p:txBody>
          <a:bodyPr wrap="square" rtlCol="0">
            <a:spAutoFit/>
          </a:bodyPr>
          <a:lstStyle/>
          <a:p>
            <a:r>
              <a:rPr lang="fr-FR" dirty="0"/>
              <a:t>Remplissage </a:t>
            </a:r>
            <a:r>
              <a:rPr lang="fr-FR" dirty="0">
                <a:sym typeface="Wingdings" panose="05000000000000000000" pitchFamily="2" charset="2"/>
              </a:rPr>
              <a:t> Texture</a:t>
            </a:r>
          </a:p>
        </p:txBody>
      </p:sp>
      <p:sp>
        <p:nvSpPr>
          <p:cNvPr id="9" name="ZoneTexte 8">
            <a:extLst>
              <a:ext uri="{FF2B5EF4-FFF2-40B4-BE49-F238E27FC236}">
                <a16:creationId xmlns:a16="http://schemas.microsoft.com/office/drawing/2014/main" id="{5B26B724-69B3-B4C9-2FC2-62A49E7BEC2D}"/>
              </a:ext>
            </a:extLst>
          </p:cNvPr>
          <p:cNvSpPr txBox="1"/>
          <p:nvPr/>
        </p:nvSpPr>
        <p:spPr>
          <a:xfrm>
            <a:off x="7543800" y="4360985"/>
            <a:ext cx="3253154" cy="369332"/>
          </a:xfrm>
          <a:prstGeom prst="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3500000" scaled="1"/>
            <a:tileRect/>
          </a:gradFill>
        </p:spPr>
        <p:txBody>
          <a:bodyPr wrap="square" rtlCol="0">
            <a:spAutoFit/>
          </a:bodyPr>
          <a:lstStyle/>
          <a:p>
            <a:r>
              <a:rPr lang="fr-FR" dirty="0"/>
              <a:t>Remplissage </a:t>
            </a:r>
            <a:r>
              <a:rPr lang="fr-FR" dirty="0">
                <a:sym typeface="Wingdings" panose="05000000000000000000" pitchFamily="2" charset="2"/>
              </a:rPr>
              <a:t> Dégradé</a:t>
            </a:r>
            <a:endParaRPr lang="fr-FR" dirty="0"/>
          </a:p>
        </p:txBody>
      </p:sp>
    </p:spTree>
    <p:extLst>
      <p:ext uri="{BB962C8B-B14F-4D97-AF65-F5344CB8AC3E}">
        <p14:creationId xmlns:p14="http://schemas.microsoft.com/office/powerpoint/2010/main" val="128060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égende : quatre flèches 3">
            <a:extLst>
              <a:ext uri="{FF2B5EF4-FFF2-40B4-BE49-F238E27FC236}">
                <a16:creationId xmlns:a16="http://schemas.microsoft.com/office/drawing/2014/main" id="{42922C44-522C-2722-C942-892749404EB8}"/>
              </a:ext>
            </a:extLst>
          </p:cNvPr>
          <p:cNvSpPr/>
          <p:nvPr/>
        </p:nvSpPr>
        <p:spPr>
          <a:xfrm>
            <a:off x="3348504" y="2212848"/>
            <a:ext cx="1216152" cy="1216152"/>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ZoneTexte 2">
            <a:extLst>
              <a:ext uri="{FF2B5EF4-FFF2-40B4-BE49-F238E27FC236}">
                <a16:creationId xmlns:a16="http://schemas.microsoft.com/office/drawing/2014/main" id="{DD207B2B-6748-44D5-E509-B07015B34E40}"/>
              </a:ext>
            </a:extLst>
          </p:cNvPr>
          <p:cNvSpPr txBox="1"/>
          <p:nvPr/>
        </p:nvSpPr>
        <p:spPr>
          <a:xfrm>
            <a:off x="1680072" y="2407186"/>
            <a:ext cx="263245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none" rtlCol="0">
            <a:spAutoFit/>
          </a:bodyPr>
          <a:lstStyle/>
          <a:p>
            <a:r>
              <a:rPr lang="fr-FR" dirty="0"/>
              <a:t>Voici une zone de texte</a:t>
            </a:r>
          </a:p>
        </p:txBody>
      </p:sp>
      <p:sp>
        <p:nvSpPr>
          <p:cNvPr id="2" name="Titre 1">
            <a:extLst>
              <a:ext uri="{FF2B5EF4-FFF2-40B4-BE49-F238E27FC236}">
                <a16:creationId xmlns:a16="http://schemas.microsoft.com/office/drawing/2014/main" id="{68E3D168-EEA3-0136-7C10-520A02E06BE0}"/>
              </a:ext>
            </a:extLst>
          </p:cNvPr>
          <p:cNvSpPr>
            <a:spLocks noGrp="1"/>
          </p:cNvSpPr>
          <p:nvPr>
            <p:ph type="title"/>
          </p:nvPr>
        </p:nvSpPr>
        <p:spPr/>
        <p:txBody>
          <a:bodyPr/>
          <a:lstStyle/>
          <a:p>
            <a:r>
              <a:rPr lang="fr-FR" dirty="0"/>
              <a:t>Objets superposés</a:t>
            </a:r>
          </a:p>
        </p:txBody>
      </p:sp>
      <p:sp>
        <p:nvSpPr>
          <p:cNvPr id="5" name="ZoneTexte 4">
            <a:extLst>
              <a:ext uri="{FF2B5EF4-FFF2-40B4-BE49-F238E27FC236}">
                <a16:creationId xmlns:a16="http://schemas.microsoft.com/office/drawing/2014/main" id="{68BCF136-EAD9-F000-0E69-D55CFB7D25D0}"/>
              </a:ext>
            </a:extLst>
          </p:cNvPr>
          <p:cNvSpPr txBox="1"/>
          <p:nvPr/>
        </p:nvSpPr>
        <p:spPr>
          <a:xfrm>
            <a:off x="4564656" y="2407186"/>
            <a:ext cx="4258019" cy="1200329"/>
          </a:xfrm>
          <a:prstGeom prst="rect">
            <a:avLst/>
          </a:prstGeom>
          <a:noFill/>
        </p:spPr>
        <p:txBody>
          <a:bodyPr wrap="square" rtlCol="0">
            <a:spAutoFit/>
          </a:bodyPr>
          <a:lstStyle/>
          <a:p>
            <a:r>
              <a:rPr lang="fr-FR" b="1" i="1" dirty="0">
                <a:effectLst>
                  <a:outerShdw blurRad="38100" dist="38100" dir="2700000" algn="tl">
                    <a:srgbClr val="000000">
                      <a:alpha val="43137"/>
                    </a:srgbClr>
                  </a:outerShdw>
                </a:effectLst>
              </a:rPr>
              <a:t>Format de forme </a:t>
            </a:r>
            <a:r>
              <a:rPr lang="fr-FR" b="1" i="1" dirty="0">
                <a:effectLst>
                  <a:outerShdw blurRad="38100" dist="38100" dir="2700000" algn="tl">
                    <a:srgbClr val="000000">
                      <a:alpha val="43137"/>
                    </a:srgbClr>
                  </a:outerShdw>
                </a:effectLst>
                <a:sym typeface="Wingdings" panose="05000000000000000000" pitchFamily="2" charset="2"/>
              </a:rPr>
              <a:t> Organiser Avancer/Reculer</a:t>
            </a:r>
            <a:r>
              <a:rPr lang="fr-FR" dirty="0">
                <a:sym typeface="Wingdings" panose="05000000000000000000" pitchFamily="2" charset="2"/>
              </a:rPr>
              <a:t> permet de changer le positionnement relatif des objets superposés</a:t>
            </a:r>
            <a:endParaRPr lang="fr-FR" dirty="0"/>
          </a:p>
        </p:txBody>
      </p:sp>
      <p:sp>
        <p:nvSpPr>
          <p:cNvPr id="6" name="ZoneTexte 5">
            <a:extLst>
              <a:ext uri="{FF2B5EF4-FFF2-40B4-BE49-F238E27FC236}">
                <a16:creationId xmlns:a16="http://schemas.microsoft.com/office/drawing/2014/main" id="{E05C9BFF-B4D2-937E-DDB0-14B3C31DB388}"/>
              </a:ext>
            </a:extLst>
          </p:cNvPr>
          <p:cNvSpPr txBox="1"/>
          <p:nvPr/>
        </p:nvSpPr>
        <p:spPr>
          <a:xfrm>
            <a:off x="4553550" y="5934670"/>
            <a:ext cx="3084901" cy="1200329"/>
          </a:xfrm>
          <a:prstGeom prst="rect">
            <a:avLst/>
          </a:prstGeom>
          <a:noFill/>
        </p:spPr>
        <p:txBody>
          <a:bodyPr wrap="square" rtlCol="0">
            <a:spAutoFit/>
          </a:bodyPr>
          <a:lstStyle/>
          <a:p>
            <a:r>
              <a:rPr lang="fr-FR" b="1" i="1" dirty="0">
                <a:effectLst>
                  <a:outerShdw blurRad="38100" dist="38100" dir="2700000" algn="tl">
                    <a:srgbClr val="000000">
                      <a:alpha val="43137"/>
                    </a:srgbClr>
                  </a:outerShdw>
                </a:effectLst>
              </a:rPr>
              <a:t>Format de forme </a:t>
            </a:r>
            <a:r>
              <a:rPr lang="fr-FR" b="1" i="1" dirty="0">
                <a:effectLst>
                  <a:outerShdw blurRad="38100" dist="38100" dir="2700000" algn="tl">
                    <a:srgbClr val="000000">
                      <a:alpha val="43137"/>
                    </a:srgbClr>
                  </a:outerShdw>
                </a:effectLst>
                <a:sym typeface="Wingdings" panose="05000000000000000000" pitchFamily="2" charset="2"/>
              </a:rPr>
              <a:t> aligner</a:t>
            </a:r>
            <a:r>
              <a:rPr lang="fr-FR" dirty="0">
                <a:sym typeface="Wingdings" panose="05000000000000000000" pitchFamily="2" charset="2"/>
              </a:rPr>
              <a:t> permet de </a:t>
            </a:r>
            <a:r>
              <a:rPr lang="fr-FR" dirty="0" err="1">
                <a:sym typeface="Wingdings" panose="05000000000000000000" pitchFamily="2" charset="2"/>
              </a:rPr>
              <a:t>controler</a:t>
            </a:r>
            <a:r>
              <a:rPr lang="fr-FR" dirty="0">
                <a:sym typeface="Wingdings" panose="05000000000000000000" pitchFamily="2" charset="2"/>
              </a:rPr>
              <a:t> le placement su la diaporama</a:t>
            </a:r>
            <a:endParaRPr lang="fr-FR" dirty="0"/>
          </a:p>
        </p:txBody>
      </p:sp>
    </p:spTree>
    <p:extLst>
      <p:ext uri="{BB962C8B-B14F-4D97-AF65-F5344CB8AC3E}">
        <p14:creationId xmlns:p14="http://schemas.microsoft.com/office/powerpoint/2010/main" val="71751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56090-9772-681F-6CD6-C1C5418E3AC4}"/>
              </a:ext>
            </a:extLst>
          </p:cNvPr>
          <p:cNvSpPr>
            <a:spLocks noGrp="1"/>
          </p:cNvSpPr>
          <p:nvPr>
            <p:ph type="title"/>
          </p:nvPr>
        </p:nvSpPr>
        <p:spPr/>
        <p:txBody>
          <a:bodyPr/>
          <a:lstStyle/>
          <a:p>
            <a:r>
              <a:rPr lang="fr-FR" dirty="0"/>
              <a:t>Thèmes</a:t>
            </a:r>
          </a:p>
        </p:txBody>
      </p:sp>
      <p:sp>
        <p:nvSpPr>
          <p:cNvPr id="3" name="Espace réservé du contenu 2">
            <a:extLst>
              <a:ext uri="{FF2B5EF4-FFF2-40B4-BE49-F238E27FC236}">
                <a16:creationId xmlns:a16="http://schemas.microsoft.com/office/drawing/2014/main" id="{ECF3D4C9-93B8-C9F7-7198-3883E83A90F3}"/>
              </a:ext>
            </a:extLst>
          </p:cNvPr>
          <p:cNvSpPr>
            <a:spLocks noGrp="1"/>
          </p:cNvSpPr>
          <p:nvPr>
            <p:ph idx="1"/>
          </p:nvPr>
        </p:nvSpPr>
        <p:spPr/>
        <p:txBody>
          <a:bodyPr/>
          <a:lstStyle/>
          <a:p>
            <a:r>
              <a:rPr lang="fr-FR" dirty="0"/>
              <a:t>On trouve des thèmes différents dans l’onglet « Conception » .</a:t>
            </a:r>
          </a:p>
          <a:p>
            <a:r>
              <a:rPr lang="fr-FR" dirty="0"/>
              <a:t>Ceci est le thème « Vue », troisième variante.</a:t>
            </a:r>
          </a:p>
        </p:txBody>
      </p:sp>
    </p:spTree>
    <p:extLst>
      <p:ext uri="{BB962C8B-B14F-4D97-AF65-F5344CB8AC3E}">
        <p14:creationId xmlns:p14="http://schemas.microsoft.com/office/powerpoint/2010/main" val="1328772379"/>
      </p:ext>
    </p:extLst>
  </p:cSld>
  <p:clrMapOvr>
    <a:masterClrMapping/>
  </p:clrMapOvr>
</p:sld>
</file>

<file path=ppt/theme/theme1.xml><?xml version="1.0" encoding="utf-8"?>
<a:theme xmlns:a="http://schemas.openxmlformats.org/drawingml/2006/main" name="Vue">
  <a:themeElements>
    <a:clrScheme name="Vu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ue">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ue">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9A8EA2BE41FC042B544FAAB627379E3" ma:contentTypeVersion="5" ma:contentTypeDescription="Crée un document." ma:contentTypeScope="" ma:versionID="d2273a17718568774ac61479485892db">
  <xsd:schema xmlns:xsd="http://www.w3.org/2001/XMLSchema" xmlns:xs="http://www.w3.org/2001/XMLSchema" xmlns:p="http://schemas.microsoft.com/office/2006/metadata/properties" xmlns:ns3="79c3c011-14ab-4182-9d14-5053eea85a0d" targetNamespace="http://schemas.microsoft.com/office/2006/metadata/properties" ma:root="true" ma:fieldsID="4f9c16f1bed489153eb187b64ada710d" ns3:_="">
    <xsd:import namespace="79c3c011-14ab-4182-9d14-5053eea85a0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c3c011-14ab-4182-9d14-5053eea85a0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99C1A72-EEF4-4039-9F48-78C4AD7ACED4}">
  <ds:schemaRefs>
    <ds:schemaRef ds:uri="http://schemas.microsoft.com/sharepoint/v3/contenttype/forms"/>
  </ds:schemaRefs>
</ds:datastoreItem>
</file>

<file path=customXml/itemProps2.xml><?xml version="1.0" encoding="utf-8"?>
<ds:datastoreItem xmlns:ds="http://schemas.openxmlformats.org/officeDocument/2006/customXml" ds:itemID="{B93ABA6E-6C02-4D26-BF49-2F2D296A8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c3c011-14ab-4182-9d14-5053eea85a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99B1144-9337-4306-B77A-AF44A2373A40}">
  <ds:schemaRefs>
    <ds:schemaRef ds:uri="http://purl.org/dc/terms/"/>
    <ds:schemaRef ds:uri="http://schemas.openxmlformats.org/package/2006/metadata/core-properties"/>
    <ds:schemaRef ds:uri="http://purl.org/dc/dcmitype/"/>
    <ds:schemaRef ds:uri="http://schemas.microsoft.com/office/infopath/2007/PartnerControls"/>
    <ds:schemaRef ds:uri="79c3c011-14ab-4182-9d14-5053eea85a0d"/>
    <ds:schemaRef ds:uri="http://schemas.microsoft.com/office/2006/documentManagement/type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Vue</Template>
  <TotalTime>429</TotalTime>
  <Words>612</Words>
  <Application>Microsoft Office PowerPoint</Application>
  <PresentationFormat>Grand écran</PresentationFormat>
  <Paragraphs>71</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Aptos Display</vt:lpstr>
      <vt:lpstr>Arial</vt:lpstr>
      <vt:lpstr>Century Schoolbook</vt:lpstr>
      <vt:lpstr>Wingdings</vt:lpstr>
      <vt:lpstr>Wingdings 2</vt:lpstr>
      <vt:lpstr>Vue</vt:lpstr>
      <vt:lpstr>Introduction à PowerPoint</vt:lpstr>
      <vt:lpstr>Structure du cours</vt:lpstr>
      <vt:lpstr>Les bases de la création d’une présentation</vt:lpstr>
      <vt:lpstr>La fenêtre de PowerPoint</vt:lpstr>
      <vt:lpstr>Différentes dispositions de diapositives</vt:lpstr>
      <vt:lpstr>Diapositive « Deux contenus »: Institut universitaire de technologie de Saint-Denis</vt:lpstr>
      <vt:lpstr>Diapositive « Comparaison »</vt:lpstr>
      <vt:lpstr>Diapositive « Contenu avec légende »</vt:lpstr>
      <vt:lpstr>Diapositive « Titre seul »</vt:lpstr>
      <vt:lpstr>Manipulation des zones de texte</vt:lpstr>
      <vt:lpstr>L’onglet « Format de forme »</vt:lpstr>
      <vt:lpstr>Objets superposés</vt:lpstr>
      <vt:lpstr>Thèmes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FREY</dc:creator>
  <cp:lastModifiedBy>Jonas FREY</cp:lastModifiedBy>
  <cp:revision>3</cp:revision>
  <dcterms:created xsi:type="dcterms:W3CDTF">2024-11-10T18:38:04Z</dcterms:created>
  <dcterms:modified xsi:type="dcterms:W3CDTF">2025-11-17T12:35:03Z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0x010100B9A8EA2BE41FC042B544FAAB627379E3</vt:lpwstr>
  </property>
</Properties>
</file>